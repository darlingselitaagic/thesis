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8"/>
  </p:notesMasterIdLst>
  <p:sldIdLst>
    <p:sldId id="256" r:id="rId2"/>
    <p:sldId id="257" r:id="rId3"/>
    <p:sldId id="305" r:id="rId4"/>
    <p:sldId id="306" r:id="rId5"/>
    <p:sldId id="307" r:id="rId6"/>
    <p:sldId id="308" r:id="rId7"/>
    <p:sldId id="274" r:id="rId8"/>
    <p:sldId id="311" r:id="rId9"/>
    <p:sldId id="312" r:id="rId10"/>
    <p:sldId id="313" r:id="rId11"/>
    <p:sldId id="281" r:id="rId12"/>
    <p:sldId id="314" r:id="rId13"/>
    <p:sldId id="315" r:id="rId14"/>
    <p:sldId id="316" r:id="rId15"/>
    <p:sldId id="317" r:id="rId16"/>
    <p:sldId id="284" r:id="rId17"/>
  </p:sldIdLst>
  <p:sldSz cx="9144000" cy="5143500" type="screen16x9"/>
  <p:notesSz cx="6858000" cy="9144000"/>
  <p:embeddedFontLst>
    <p:embeddedFont>
      <p:font typeface="GFS Didot" panose="020B0604020202020204" charset="0"/>
      <p:regular r:id="rId19"/>
    </p:embeddedFont>
    <p:embeddedFont>
      <p:font typeface="Overpass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22A74-3300-4E6C-A13D-0C52F6D8EFF1}" v="40" dt="2026-06-25T23:37:52.177"/>
  </p1510:revLst>
</p1510:revInfo>
</file>

<file path=ppt/tableStyles.xml><?xml version="1.0" encoding="utf-8"?>
<a:tblStyleLst xmlns:a="http://schemas.openxmlformats.org/drawingml/2006/main" def="{34773EF1-DEA2-4C94-AE98-79BA4ACDCEAD}">
  <a:tblStyle styleId="{34773EF1-DEA2-4C94-AE98-79BA4ACDCE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9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de000da17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de000da17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de0f75007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de0f75007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D2CC4727-BC0F-908F-1BBB-3C655B5D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C4D3DF7F-40F2-71C1-78B3-A321515DB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8A1368F4-E2F7-0384-1D24-D0E777A9B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235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67866A7F-880E-D093-C91E-B9C0B0AF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DB492AA7-BB6B-5C89-E30C-43E100F18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E1698DB1-E412-1F08-5D59-95E1167C7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918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9977A257-88FE-4C2D-C042-C748DD91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A1685E59-7045-98A0-E6B0-05C0F1C29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164777A0-D3CE-41E6-17DD-6A054EB6B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764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518F41C5-A96F-801F-E820-D0FC0698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C822FC6B-825B-1363-99F6-2759F6898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775909B7-DF06-73FE-8FF8-2BD07B5CF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204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3e71874e98_0_8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3e71874e98_0_8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A7AB6D34-F7DB-C240-99E4-7D7F9BB95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BF5C1732-0BD2-9197-322B-DBC98DF99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8A70D24F-4399-F837-946B-2B283C731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518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1F8F17D1-5CD7-E0FC-B38C-00EAE423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C0F84684-AA87-7747-131D-6BDF649BC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3633D567-EB94-6B29-A0EF-6B073A544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547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7ACC5100-713F-ABD5-9E02-3F520385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de0f750070_0_5:notes">
            <a:extLst>
              <a:ext uri="{FF2B5EF4-FFF2-40B4-BE49-F238E27FC236}">
                <a16:creationId xmlns:a16="http://schemas.microsoft.com/office/drawing/2014/main" id="{8CB51564-69F8-06D8-D5D0-51CFAB5E5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de0f750070_0_5:notes">
            <a:extLst>
              <a:ext uri="{FF2B5EF4-FFF2-40B4-BE49-F238E27FC236}">
                <a16:creationId xmlns:a16="http://schemas.microsoft.com/office/drawing/2014/main" id="{F28E097F-67AE-6F6D-ACF4-3D289AB35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002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185c551ac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185c551ac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4B0A198C-F5E5-845D-941F-265FA31D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12BA9BA3-B325-9B66-2DE0-833B1A46B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8F5C8E91-A9E2-CBC2-2FA2-7EF199002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539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3A762852-BEB4-D9E0-35F4-D6A5FE64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32A65E3A-A148-031C-2660-60001DD99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3EA5C968-713E-07A3-9384-657B30660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968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6201455B-3E6A-3B55-0D93-4F15245A8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3F540598-9BE8-753E-2579-D2AF50AFD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90002AFD-000A-CE7C-D78A-11D294382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946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A6D83542-30A8-3EA6-1B5B-98B7A10A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03be3818b_0_146:notes">
            <a:extLst>
              <a:ext uri="{FF2B5EF4-FFF2-40B4-BE49-F238E27FC236}">
                <a16:creationId xmlns:a16="http://schemas.microsoft.com/office/drawing/2014/main" id="{221D8E9D-EF43-0063-4654-35318173D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03be3818b_0_146:notes">
            <a:extLst>
              <a:ext uri="{FF2B5EF4-FFF2-40B4-BE49-F238E27FC236}">
                <a16:creationId xmlns:a16="http://schemas.microsoft.com/office/drawing/2014/main" id="{CC27AE2E-468F-263A-2774-AC7CD9ECDE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631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1fa4ddd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1fa4ddd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455">
            <a:off x="2286025" y="3584703"/>
            <a:ext cx="4529400" cy="4263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70875" y="1132197"/>
            <a:ext cx="6359700" cy="245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097050" y="1044548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57975" y="2439573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540175" y="4259425"/>
            <a:ext cx="2638800" cy="12420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189375" y="3110098"/>
            <a:ext cx="519600" cy="5196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57975" y="507821"/>
            <a:ext cx="956700" cy="9567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-407925" y="-61000"/>
            <a:ext cx="956700" cy="9567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745575" y="1132200"/>
            <a:ext cx="1632000" cy="1632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262200" y="1626263"/>
            <a:ext cx="1632000" cy="1632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582075" y="-61000"/>
            <a:ext cx="750300" cy="7503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-671750" y="3506925"/>
            <a:ext cx="1632000" cy="1632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7654950" y="4438126"/>
            <a:ext cx="1179900" cy="11799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8141225" y="4100750"/>
            <a:ext cx="1242000" cy="12420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923821" y="-761495"/>
            <a:ext cx="3082500" cy="14508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4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-422400" y="1319573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0542" y="-422834"/>
            <a:ext cx="1632000" cy="7680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-1045850" y="-59000"/>
            <a:ext cx="1632000" cy="1632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 flipH="1">
            <a:off x="8430780" y="-59000"/>
            <a:ext cx="1632000" cy="1632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 flipH="1">
            <a:off x="7487638" y="-536609"/>
            <a:ext cx="1632000" cy="7680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 flipH="1">
            <a:off x="8747780" y="1205798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8408550" y="-195950"/>
            <a:ext cx="1470900" cy="14709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535550" y="1057850"/>
            <a:ext cx="491700" cy="4917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/>
          <p:nvPr/>
        </p:nvSpPr>
        <p:spPr>
          <a:xfrm rot="10800000">
            <a:off x="414525" y="4612950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6"/>
          <p:cNvSpPr/>
          <p:nvPr/>
        </p:nvSpPr>
        <p:spPr>
          <a:xfrm rot="10800000">
            <a:off x="-760825" y="3877498"/>
            <a:ext cx="1470900" cy="14709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"/>
          <p:cNvSpPr/>
          <p:nvPr/>
        </p:nvSpPr>
        <p:spPr>
          <a:xfrm rot="10800000">
            <a:off x="91375" y="3602898"/>
            <a:ext cx="491700" cy="4917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7859300" y="-305302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>
            <a:spLocks noGrp="1"/>
          </p:cNvSpPr>
          <p:nvPr>
            <p:ph type="title"/>
          </p:nvPr>
        </p:nvSpPr>
        <p:spPr>
          <a:xfrm>
            <a:off x="723357" y="1395675"/>
            <a:ext cx="77040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subTitle" idx="1"/>
          </p:nvPr>
        </p:nvSpPr>
        <p:spPr>
          <a:xfrm>
            <a:off x="723357" y="1712025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title" idx="2"/>
          </p:nvPr>
        </p:nvSpPr>
        <p:spPr>
          <a:xfrm>
            <a:off x="723393" y="2522100"/>
            <a:ext cx="77040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3"/>
          </p:nvPr>
        </p:nvSpPr>
        <p:spPr>
          <a:xfrm>
            <a:off x="723365" y="2838465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title" idx="4"/>
          </p:nvPr>
        </p:nvSpPr>
        <p:spPr>
          <a:xfrm>
            <a:off x="716621" y="3648550"/>
            <a:ext cx="77040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subTitle" idx="5"/>
          </p:nvPr>
        </p:nvSpPr>
        <p:spPr>
          <a:xfrm>
            <a:off x="716607" y="3964925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/>
          <p:nvPr/>
        </p:nvSpPr>
        <p:spPr>
          <a:xfrm rot="-5400000">
            <a:off x="8286891" y="645863"/>
            <a:ext cx="1165500" cy="5487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8490850" y="-143651"/>
            <a:ext cx="986400" cy="9864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/>
          <p:nvPr/>
        </p:nvSpPr>
        <p:spPr>
          <a:xfrm rot="5400000">
            <a:off x="-240266" y="3956924"/>
            <a:ext cx="1165500" cy="5487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 rot="10800000">
            <a:off x="-265125" y="4308738"/>
            <a:ext cx="986400" cy="9864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0"/>
          <p:cNvSpPr/>
          <p:nvPr/>
        </p:nvSpPr>
        <p:spPr>
          <a:xfrm rot="10800000">
            <a:off x="616825" y="4644486"/>
            <a:ext cx="468900" cy="4689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8126400" y="38100"/>
            <a:ext cx="468900" cy="4689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1228794" y="1500825"/>
            <a:ext cx="26997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subTitle" idx="1"/>
          </p:nvPr>
        </p:nvSpPr>
        <p:spPr>
          <a:xfrm>
            <a:off x="1228800" y="1831125"/>
            <a:ext cx="26997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3"/>
          <p:cNvSpPr txBox="1">
            <a:spLocks noGrp="1"/>
          </p:cNvSpPr>
          <p:nvPr>
            <p:ph type="title" idx="2"/>
          </p:nvPr>
        </p:nvSpPr>
        <p:spPr>
          <a:xfrm>
            <a:off x="5215517" y="1500825"/>
            <a:ext cx="26997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subTitle" idx="3"/>
          </p:nvPr>
        </p:nvSpPr>
        <p:spPr>
          <a:xfrm>
            <a:off x="5215505" y="1831125"/>
            <a:ext cx="26997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title" idx="4"/>
          </p:nvPr>
        </p:nvSpPr>
        <p:spPr>
          <a:xfrm>
            <a:off x="1228781" y="2910600"/>
            <a:ext cx="26997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23"/>
          <p:cNvSpPr txBox="1">
            <a:spLocks noGrp="1"/>
          </p:cNvSpPr>
          <p:nvPr>
            <p:ph type="subTitle" idx="5"/>
          </p:nvPr>
        </p:nvSpPr>
        <p:spPr>
          <a:xfrm>
            <a:off x="1228800" y="3240850"/>
            <a:ext cx="26997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title" idx="6"/>
          </p:nvPr>
        </p:nvSpPr>
        <p:spPr>
          <a:xfrm>
            <a:off x="5215494" y="2910600"/>
            <a:ext cx="26997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7" name="Google Shape;217;p23"/>
          <p:cNvSpPr txBox="1">
            <a:spLocks noGrp="1"/>
          </p:cNvSpPr>
          <p:nvPr>
            <p:ph type="subTitle" idx="7"/>
          </p:nvPr>
        </p:nvSpPr>
        <p:spPr>
          <a:xfrm>
            <a:off x="5215525" y="3240850"/>
            <a:ext cx="26997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3"/>
          <p:cNvSpPr/>
          <p:nvPr/>
        </p:nvSpPr>
        <p:spPr>
          <a:xfrm rot="10800000">
            <a:off x="8721600" y="641025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3"/>
          <p:cNvSpPr/>
          <p:nvPr/>
        </p:nvSpPr>
        <p:spPr>
          <a:xfrm rot="10800000">
            <a:off x="8176750" y="59250"/>
            <a:ext cx="409500" cy="4095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3"/>
          <p:cNvSpPr/>
          <p:nvPr/>
        </p:nvSpPr>
        <p:spPr>
          <a:xfrm rot="10800000">
            <a:off x="8424000" y="-374048"/>
            <a:ext cx="1120800" cy="11208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>
            <a:spLocks noGrp="1"/>
          </p:cNvSpPr>
          <p:nvPr>
            <p:ph type="ctrTitle"/>
          </p:nvPr>
        </p:nvSpPr>
        <p:spPr>
          <a:xfrm>
            <a:off x="1739250" y="540000"/>
            <a:ext cx="5665500" cy="1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1"/>
          </p:nvPr>
        </p:nvSpPr>
        <p:spPr>
          <a:xfrm>
            <a:off x="2963700" y="1630049"/>
            <a:ext cx="32166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subTitle" idx="2"/>
          </p:nvPr>
        </p:nvSpPr>
        <p:spPr>
          <a:xfrm rot="-1283">
            <a:off x="2963700" y="4184197"/>
            <a:ext cx="32166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2963700" y="3508610"/>
            <a:ext cx="3216600" cy="7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verpass"/>
                <a:ea typeface="Overpass"/>
                <a:cs typeface="Overpass"/>
                <a:sym typeface="Overpas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</a:t>
            </a: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verpass"/>
                <a:ea typeface="Overpass"/>
                <a:cs typeface="Overpass"/>
                <a:sym typeface="Overpas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,</a:t>
            </a:r>
            <a:r>
              <a:rPr lang="en" sz="11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verpass"/>
                <a:ea typeface="Overpass"/>
                <a:cs typeface="Overpass"/>
                <a:sym typeface="Overpas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-759187" y="3785224"/>
            <a:ext cx="1628400" cy="16284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8430787" y="1464750"/>
            <a:ext cx="1219500" cy="12195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6"/>
          <p:cNvSpPr/>
          <p:nvPr/>
        </p:nvSpPr>
        <p:spPr>
          <a:xfrm>
            <a:off x="8251800" y="1172800"/>
            <a:ext cx="750300" cy="7503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1006799" y="-155025"/>
            <a:ext cx="642000" cy="6420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/>
          <p:nvPr/>
        </p:nvSpPr>
        <p:spPr>
          <a:xfrm>
            <a:off x="8430775" y="1741896"/>
            <a:ext cx="956700" cy="9567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151600" y="2571751"/>
            <a:ext cx="1357500" cy="13575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"/>
          <p:cNvSpPr/>
          <p:nvPr/>
        </p:nvSpPr>
        <p:spPr>
          <a:xfrm>
            <a:off x="6923821" y="-761495"/>
            <a:ext cx="3082500" cy="14508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7"/>
          <p:cNvSpPr/>
          <p:nvPr/>
        </p:nvSpPr>
        <p:spPr>
          <a:xfrm>
            <a:off x="352000" y="868596"/>
            <a:ext cx="956700" cy="9567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7"/>
          <p:cNvSpPr/>
          <p:nvPr/>
        </p:nvSpPr>
        <p:spPr>
          <a:xfrm>
            <a:off x="-478350" y="-275775"/>
            <a:ext cx="1310700" cy="13107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-1048250" y="1522825"/>
            <a:ext cx="1632000" cy="1632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-478350" y="3642721"/>
            <a:ext cx="956700" cy="9567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7"/>
          <p:cNvSpPr/>
          <p:nvPr/>
        </p:nvSpPr>
        <p:spPr>
          <a:xfrm>
            <a:off x="-92550" y="4253875"/>
            <a:ext cx="1310700" cy="13107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7"/>
          <p:cNvSpPr/>
          <p:nvPr/>
        </p:nvSpPr>
        <p:spPr>
          <a:xfrm>
            <a:off x="7649075" y="410525"/>
            <a:ext cx="1632000" cy="1632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8430775" y="4139525"/>
            <a:ext cx="1310700" cy="13107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7535175" y="2521675"/>
            <a:ext cx="1310700" cy="13107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/>
          <p:nvPr/>
        </p:nvSpPr>
        <p:spPr>
          <a:xfrm>
            <a:off x="5523975" y="1257676"/>
            <a:ext cx="1562400" cy="15624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7086375" y="2607312"/>
            <a:ext cx="1404900" cy="14049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4571988" y="-194450"/>
            <a:ext cx="4472700" cy="21051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8"/>
          <p:cNvSpPr/>
          <p:nvPr/>
        </p:nvSpPr>
        <p:spPr>
          <a:xfrm>
            <a:off x="7997625" y="3737923"/>
            <a:ext cx="844800" cy="8448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2481275" y="596250"/>
            <a:ext cx="2372100" cy="23721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6706950" y="2137050"/>
            <a:ext cx="750300" cy="7503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8896025" y="1910651"/>
            <a:ext cx="463800" cy="463800"/>
          </a:xfrm>
          <a:prstGeom prst="roundRect">
            <a:avLst>
              <a:gd name="adj" fmla="val 53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FS Didot"/>
              <a:buNone/>
              <a:defRPr sz="3000" b="1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66" r:id="rId5"/>
    <p:sldLayoutId id="2147483669" r:id="rId6"/>
    <p:sldLayoutId id="2147483672" r:id="rId7"/>
    <p:sldLayoutId id="2147483673" r:id="rId8"/>
    <p:sldLayoutId id="21474836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/>
          <p:nvPr/>
        </p:nvSpPr>
        <p:spPr>
          <a:xfrm>
            <a:off x="8478875" y="3201525"/>
            <a:ext cx="956700" cy="1037700"/>
          </a:xfrm>
          <a:prstGeom prst="roundRect">
            <a:avLst>
              <a:gd name="adj" fmla="val 539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subTitle" idx="1"/>
          </p:nvPr>
        </p:nvSpPr>
        <p:spPr>
          <a:xfrm rot="-455">
            <a:off x="2286025" y="3584703"/>
            <a:ext cx="45294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Thesis Defense</a:t>
            </a:r>
            <a:endParaRPr dirty="0"/>
          </a:p>
        </p:txBody>
      </p:sp>
      <p:sp>
        <p:nvSpPr>
          <p:cNvPr id="298" name="Google Shape;298;p32"/>
          <p:cNvSpPr txBox="1">
            <a:spLocks noGrp="1"/>
          </p:cNvSpPr>
          <p:nvPr>
            <p:ph type="ctrTitle"/>
          </p:nvPr>
        </p:nvSpPr>
        <p:spPr>
          <a:xfrm>
            <a:off x="1370875" y="1132197"/>
            <a:ext cx="6359700" cy="245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4000" dirty="0"/>
              <a:t>Design and Simulation of an AI-Driven Extended Detection and Response (XDR) System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/>
              <a:t>Presentation Contents</a:t>
            </a:r>
            <a:endParaRPr dirty="0"/>
          </a:p>
        </p:txBody>
      </p:sp>
      <p:graphicFrame>
        <p:nvGraphicFramePr>
          <p:cNvPr id="307" name="Google Shape;307;p33"/>
          <p:cNvGraphicFramePr/>
          <p:nvPr>
            <p:extLst>
              <p:ext uri="{D42A27DB-BD31-4B8C-83A1-F6EECF244321}">
                <p14:modId xmlns:p14="http://schemas.microsoft.com/office/powerpoint/2010/main" val="1093771646"/>
              </p:ext>
            </p:extLst>
          </p:nvPr>
        </p:nvGraphicFramePr>
        <p:xfrm>
          <a:off x="720000" y="1334410"/>
          <a:ext cx="7702575" cy="3668252"/>
        </p:xfrm>
        <a:graphic>
          <a:graphicData uri="http://schemas.openxmlformats.org/drawingml/2006/table">
            <a:tbl>
              <a:tblPr>
                <a:noFill/>
                <a:tableStyleId>{34773EF1-DEA2-4C94-AE98-79BA4ACDCEAD}</a:tableStyleId>
              </a:tblPr>
              <a:tblGrid>
                <a:gridCol w="223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(1) 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Slides 3-4</a:t>
                      </a:r>
                      <a:endParaRPr sz="1000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302318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Stated Problem &amp; Research Questions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(2)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Slide 5-6</a:t>
                      </a:r>
                      <a:endParaRPr sz="1000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302318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Literature Review – Results of Research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(3)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Slides 7-8 </a:t>
                      </a:r>
                      <a:endParaRPr sz="1000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Proposed Methodology &amp; System Architecture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(4)</a:t>
                      </a:r>
                      <a:b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</a:b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Slide 9</a:t>
                      </a:r>
                      <a:endParaRPr lang="en-US" sz="1000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Experimental Work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(5)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Slide 10</a:t>
                      </a:r>
                      <a:endParaRPr sz="1000" b="1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Results achieved &amp; Hypotheses proven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(6)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Slide 11 </a:t>
                      </a:r>
                      <a:endParaRPr sz="1000" b="1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Contribution to Research &amp; Conclusions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(7)</a:t>
                      </a: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Slide 12- 15</a:t>
                      </a:r>
                      <a:endParaRPr sz="1000" b="1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Final Implementation (Implemented web-app interface snapshots)</a:t>
                      </a:r>
                      <a:endParaRPr lang="en"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5457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E60B2398-5BED-FC96-C8E8-E7FDECF9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>
            <a:extLst>
              <a:ext uri="{FF2B5EF4-FFF2-40B4-BE49-F238E27FC236}">
                <a16:creationId xmlns:a16="http://schemas.microsoft.com/office/drawing/2014/main" id="{37D8A2F7-8FCF-8D0C-F3A3-AF3483CD3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878633"/>
            <a:ext cx="77040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dirty="0"/>
              <a:t>Problems found in existing advancements &amp; research: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46" name="Google Shape;346;p36">
            <a:extLst>
              <a:ext uri="{FF2B5EF4-FFF2-40B4-BE49-F238E27FC236}">
                <a16:creationId xmlns:a16="http://schemas.microsoft.com/office/drawing/2014/main" id="{3457E40E-4959-D438-132E-8A38BB32F6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1139" y="2330629"/>
            <a:ext cx="7704000" cy="859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10000"/>
                </a:schemeClr>
              </a:buClr>
              <a:buSzPts val="1100"/>
              <a:buFont typeface="+mj-lt"/>
              <a:buAutoNum type="romanUcPeriod"/>
            </a:pPr>
            <a:r>
              <a:rPr lang="en" b="1" dirty="0"/>
              <a:t>Cyber attacks are becoming more and more complex to defend</a:t>
            </a:r>
          </a:p>
          <a:p>
            <a:pPr marL="40005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10000"/>
                </a:schemeClr>
              </a:buClr>
              <a:buSzPts val="1100"/>
              <a:buFont typeface="+mj-lt"/>
              <a:buAutoNum type="romanUcPeriod"/>
            </a:pPr>
            <a:r>
              <a:rPr lang="en" b="1" dirty="0"/>
              <a:t>SIEM and EDR systems rely mostly on standard set of rules for detection</a:t>
            </a:r>
          </a:p>
          <a:p>
            <a:pPr marL="40005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10000"/>
                </a:schemeClr>
              </a:buClr>
              <a:buSzPts val="1100"/>
              <a:buFont typeface="+mj-lt"/>
              <a:buAutoNum type="romanUcPeriod"/>
            </a:pPr>
            <a:r>
              <a:rPr lang="en" b="1" dirty="0"/>
              <a:t>Most modern cybersecurity systems still require heavy human input</a:t>
            </a:r>
            <a:endParaRPr dirty="0"/>
          </a:p>
        </p:txBody>
      </p:sp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004300A7-816C-9DB2-7894-EECAE9BB59B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Introduction &amp; Research Questions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76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4E502861-973B-EC85-88AC-CCD77861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>
            <a:extLst>
              <a:ext uri="{FF2B5EF4-FFF2-40B4-BE49-F238E27FC236}">
                <a16:creationId xmlns:a16="http://schemas.microsoft.com/office/drawing/2014/main" id="{81BCC4B1-3B57-C4C2-78B3-D690E0EF5F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350599"/>
            <a:ext cx="77040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dirty="0"/>
              <a:t>Posed Research Questions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46" name="Google Shape;346;p36">
            <a:extLst>
              <a:ext uri="{FF2B5EF4-FFF2-40B4-BE49-F238E27FC236}">
                <a16:creationId xmlns:a16="http://schemas.microsoft.com/office/drawing/2014/main" id="{A867B351-EC17-7D0C-884F-C79094388B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1139" y="1802595"/>
            <a:ext cx="7704000" cy="2582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400050">
              <a:buClr>
                <a:schemeClr val="accent1">
                  <a:lumMod val="10000"/>
                </a:schemeClr>
              </a:buClr>
              <a:buSzPts val="1100"/>
              <a:buFont typeface="+mj-lt"/>
              <a:buAutoNum type="romanUcPeriod"/>
            </a:pPr>
            <a:r>
              <a:rPr lang="en-US" b="1" dirty="0"/>
              <a:t>Can an Artificial Intelligence-driven XDR System accurately identify suspicious logs or events using a centralized telemetry system along with continuous log monitoring and analysis?</a:t>
            </a:r>
          </a:p>
          <a:p>
            <a:pPr marL="400050" lvl="0" indent="-400050">
              <a:buClr>
                <a:schemeClr val="accent1">
                  <a:lumMod val="10000"/>
                </a:schemeClr>
              </a:buClr>
              <a:buSzPts val="1100"/>
              <a:buFont typeface="+mj-lt"/>
              <a:buAutoNum type="romanUcPeriod"/>
            </a:pPr>
            <a:r>
              <a:rPr lang="en-US" b="1" dirty="0"/>
              <a:t>How much can Machine Learning algorithms improve threat detection, event correlation and risk mitigation?</a:t>
            </a:r>
          </a:p>
          <a:p>
            <a:pPr marL="400050" lvl="0" indent="-400050">
              <a:buClr>
                <a:schemeClr val="accent1">
                  <a:lumMod val="10000"/>
                </a:schemeClr>
              </a:buClr>
              <a:buSzPts val="1100"/>
              <a:buFont typeface="+mj-lt"/>
              <a:buAutoNum type="romanUcPeriod"/>
            </a:pPr>
            <a:r>
              <a:rPr lang="en-US" b="1" dirty="0"/>
              <a:t>Is it possible to simulate an almost fully automated incident response mechanism with an AI + ML Engine, while maintaining the level of reliability and accuracy that normal XDR solutions offer?</a:t>
            </a:r>
          </a:p>
          <a:p>
            <a:pPr marL="400050" lvl="0" indent="-400050">
              <a:buClr>
                <a:schemeClr val="accent1">
                  <a:lumMod val="10000"/>
                </a:schemeClr>
              </a:buClr>
              <a:buSzPts val="1100"/>
              <a:buFont typeface="+mj-lt"/>
              <a:buAutoNum type="romanUcPeriod"/>
            </a:pPr>
            <a:r>
              <a:rPr lang="en-US" b="1" dirty="0"/>
              <a:t>How effective is intrusion detection and event correlation in early mitigation of sequential or multi-scale attacks?</a:t>
            </a:r>
            <a:endParaRPr b="1" dirty="0"/>
          </a:p>
        </p:txBody>
      </p:sp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0BF1BB8E-3972-1A32-4EE9-5B4267786D91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Introduction &amp; Research Questions *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28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456903B2-09C0-0EDB-F608-796343F2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>
            <a:extLst>
              <a:ext uri="{FF2B5EF4-FFF2-40B4-BE49-F238E27FC236}">
                <a16:creationId xmlns:a16="http://schemas.microsoft.com/office/drawing/2014/main" id="{154063DD-6958-69A8-DFD1-819BE3AAE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459" y="1320085"/>
            <a:ext cx="7704000" cy="10061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800" dirty="0"/>
              <a:t>Existing cybersecurity systems (SIEM, EDR, SOAR) have specialized functionalities, but innovation is scarce and will prove to be a major issue with the evolvement of AI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2C0955AC-C84A-F6DB-1DD5-4E4F635B561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Literature Review – Research Gap</a:t>
            </a:r>
            <a:endParaRPr dirty="0"/>
          </a:p>
        </p:txBody>
      </p:sp>
      <p:sp>
        <p:nvSpPr>
          <p:cNvPr id="2" name="Google Shape;345;p36">
            <a:extLst>
              <a:ext uri="{FF2B5EF4-FFF2-40B4-BE49-F238E27FC236}">
                <a16:creationId xmlns:a16="http://schemas.microsoft.com/office/drawing/2014/main" id="{4FED24E1-6CA9-DCF0-F18E-55CCF0FE25E2}"/>
              </a:ext>
            </a:extLst>
          </p:cNvPr>
          <p:cNvSpPr txBox="1">
            <a:spLocks/>
          </p:cNvSpPr>
          <p:nvPr/>
        </p:nvSpPr>
        <p:spPr>
          <a:xfrm>
            <a:off x="653459" y="2326284"/>
            <a:ext cx="7704000" cy="1148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FS Didot"/>
              <a:buNone/>
              <a:defRPr sz="2000" b="1" i="0" u="none" strike="noStrike" cap="none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9pPr>
          </a:lstStyle>
          <a:p>
            <a:pPr marL="342900" indent="-342900">
              <a:buSzPts val="1100"/>
              <a:buFont typeface="Wingdings" panose="05000000000000000000" pitchFamily="2" charset="2"/>
              <a:buChar char="Ø"/>
            </a:pPr>
            <a:r>
              <a:rPr lang="en-US" sz="1800" dirty="0"/>
              <a:t>Taking AI &amp; ML separately without integrating it with a larger system doesn’t benefit the user or the model itself, making it capable of handling only specific cases</a:t>
            </a:r>
          </a:p>
        </p:txBody>
      </p:sp>
      <p:sp>
        <p:nvSpPr>
          <p:cNvPr id="3" name="Google Shape;345;p36">
            <a:extLst>
              <a:ext uri="{FF2B5EF4-FFF2-40B4-BE49-F238E27FC236}">
                <a16:creationId xmlns:a16="http://schemas.microsoft.com/office/drawing/2014/main" id="{C3C1F70A-F6FB-B243-75EF-2BD2362096AF}"/>
              </a:ext>
            </a:extLst>
          </p:cNvPr>
          <p:cNvSpPr txBox="1">
            <a:spLocks/>
          </p:cNvSpPr>
          <p:nvPr/>
        </p:nvSpPr>
        <p:spPr>
          <a:xfrm>
            <a:off x="653459" y="3159063"/>
            <a:ext cx="7704000" cy="1148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FS Didot"/>
              <a:buNone/>
              <a:defRPr sz="2000" b="1" i="0" u="none" strike="noStrike" cap="none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9pPr>
          </a:lstStyle>
          <a:p>
            <a:pPr marL="342900" indent="-342900">
              <a:buSzPts val="1100"/>
              <a:buFont typeface="Wingdings" panose="05000000000000000000" pitchFamily="2" charset="2"/>
              <a:buChar char="Ø"/>
            </a:pPr>
            <a:r>
              <a:rPr lang="en-US" sz="1800" dirty="0"/>
              <a:t>Existing research focuses primarily on individual tools that offer limited functionality, as AI is still a field in development</a:t>
            </a:r>
          </a:p>
        </p:txBody>
      </p:sp>
    </p:spTree>
    <p:extLst>
      <p:ext uri="{BB962C8B-B14F-4D97-AF65-F5344CB8AC3E}">
        <p14:creationId xmlns:p14="http://schemas.microsoft.com/office/powerpoint/2010/main" val="269988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3EA75AAA-D09E-0DFB-85AC-6BC20938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6AE9BFA-1FEA-6FA5-4A24-E953F901D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6" y="679475"/>
            <a:ext cx="2587913" cy="3422383"/>
          </a:xfrm>
          <a:prstGeom prst="rect">
            <a:avLst/>
          </a:prstGeom>
        </p:spPr>
      </p:pic>
      <p:sp>
        <p:nvSpPr>
          <p:cNvPr id="10" name="Google Shape;351;p36">
            <a:extLst>
              <a:ext uri="{FF2B5EF4-FFF2-40B4-BE49-F238E27FC236}">
                <a16:creationId xmlns:a16="http://schemas.microsoft.com/office/drawing/2014/main" id="{A7FE3889-8BFB-367B-625A-FF856556ABD6}"/>
              </a:ext>
            </a:extLst>
          </p:cNvPr>
          <p:cNvSpPr txBox="1">
            <a:spLocks/>
          </p:cNvSpPr>
          <p:nvPr/>
        </p:nvSpPr>
        <p:spPr>
          <a:xfrm>
            <a:off x="3835216" y="1341726"/>
            <a:ext cx="4937439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FS Didot"/>
              <a:buNone/>
              <a:defRPr sz="3000" b="1" i="0" u="none" strike="noStrike" cap="none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9pPr>
          </a:lstStyle>
          <a:p>
            <a:r>
              <a:rPr lang="en-US" sz="3600" dirty="0"/>
              <a:t>Schematic View of an Adaptive Defense System</a:t>
            </a:r>
          </a:p>
        </p:txBody>
      </p:sp>
      <p:sp>
        <p:nvSpPr>
          <p:cNvPr id="11" name="Google Shape;351;p36">
            <a:extLst>
              <a:ext uri="{FF2B5EF4-FFF2-40B4-BE49-F238E27FC236}">
                <a16:creationId xmlns:a16="http://schemas.microsoft.com/office/drawing/2014/main" id="{60AE92C7-8127-455B-B13F-9FD5C927D393}"/>
              </a:ext>
            </a:extLst>
          </p:cNvPr>
          <p:cNvSpPr txBox="1">
            <a:spLocks/>
          </p:cNvSpPr>
          <p:nvPr/>
        </p:nvSpPr>
        <p:spPr>
          <a:xfrm>
            <a:off x="7132099" y="4803911"/>
            <a:ext cx="2011901" cy="28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FS Didot"/>
              <a:buNone/>
              <a:defRPr sz="3000" b="1" i="0" u="none" strike="noStrike" cap="none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9pPr>
          </a:lstStyle>
          <a:p>
            <a:r>
              <a:rPr lang="en-US" sz="900" dirty="0"/>
              <a:t>(Included in thesis and referenced)</a:t>
            </a:r>
          </a:p>
        </p:txBody>
      </p:sp>
    </p:spTree>
    <p:extLst>
      <p:ext uri="{BB962C8B-B14F-4D97-AF65-F5344CB8AC3E}">
        <p14:creationId xmlns:p14="http://schemas.microsoft.com/office/powerpoint/2010/main" val="1931700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3. Methodology &amp; Architecture</a:t>
            </a:r>
          </a:p>
        </p:txBody>
      </p:sp>
      <p:sp>
        <p:nvSpPr>
          <p:cNvPr id="542" name="Google Shape;542;p50"/>
          <p:cNvSpPr txBox="1"/>
          <p:nvPr/>
        </p:nvSpPr>
        <p:spPr>
          <a:xfrm flipH="1">
            <a:off x="3198800" y="2362188"/>
            <a:ext cx="27462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rPr>
              <a:t>System Design</a:t>
            </a:r>
            <a:endParaRPr sz="2000" b="1" dirty="0">
              <a:solidFill>
                <a:schemeClr val="dk1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  <p:sp>
        <p:nvSpPr>
          <p:cNvPr id="543" name="Google Shape;543;p50"/>
          <p:cNvSpPr txBox="1"/>
          <p:nvPr/>
        </p:nvSpPr>
        <p:spPr>
          <a:xfrm flipH="1">
            <a:off x="427597" y="2706425"/>
            <a:ext cx="2534678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rPr>
              <a:t>Methodology Used</a:t>
            </a:r>
            <a:endParaRPr sz="2000" b="1" dirty="0">
              <a:solidFill>
                <a:schemeClr val="dk1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  <p:sp>
        <p:nvSpPr>
          <p:cNvPr id="544" name="Google Shape;544;p50"/>
          <p:cNvSpPr txBox="1"/>
          <p:nvPr/>
        </p:nvSpPr>
        <p:spPr>
          <a:xfrm flipH="1">
            <a:off x="6336000" y="1608688"/>
            <a:ext cx="20880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accent1">
                  <a:lumMod val="10000"/>
                </a:schemeClr>
              </a:buClr>
              <a:buSzPts val="1100"/>
            </a:pPr>
            <a:r>
              <a:rPr lang="en-US" dirty="0"/>
              <a:t>Research existing methodologies</a:t>
            </a:r>
            <a:endParaRPr lang="en-US" sz="1200" dirty="0"/>
          </a:p>
        </p:txBody>
      </p:sp>
      <p:sp>
        <p:nvSpPr>
          <p:cNvPr id="545" name="Google Shape;545;p50"/>
          <p:cNvSpPr txBox="1"/>
          <p:nvPr/>
        </p:nvSpPr>
        <p:spPr>
          <a:xfrm flipH="1">
            <a:off x="3198800" y="1692013"/>
            <a:ext cx="27462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rPr>
              <a:t>Literature Review</a:t>
            </a:r>
            <a:endParaRPr sz="2000" b="1" dirty="0">
              <a:solidFill>
                <a:schemeClr val="dk1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  <p:sp>
        <p:nvSpPr>
          <p:cNvPr id="546" name="Google Shape;546;p50"/>
          <p:cNvSpPr txBox="1"/>
          <p:nvPr/>
        </p:nvSpPr>
        <p:spPr>
          <a:xfrm flipH="1">
            <a:off x="6336000" y="3619213"/>
            <a:ext cx="20880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+mj-lt"/>
                <a:ea typeface="Overpass"/>
                <a:cs typeface="Overpass"/>
                <a:sym typeface="Overpass"/>
              </a:rPr>
              <a:t>Testing and evaluation of proposed system</a:t>
            </a:r>
            <a:endParaRPr b="1" dirty="0">
              <a:solidFill>
                <a:schemeClr val="dk1"/>
              </a:solidFill>
              <a:latin typeface="+mj-lt"/>
              <a:ea typeface="Overpass"/>
              <a:cs typeface="Overpass"/>
              <a:sym typeface="Overpass"/>
            </a:endParaRPr>
          </a:p>
        </p:txBody>
      </p:sp>
      <p:sp>
        <p:nvSpPr>
          <p:cNvPr id="547" name="Google Shape;547;p50"/>
          <p:cNvSpPr txBox="1"/>
          <p:nvPr/>
        </p:nvSpPr>
        <p:spPr>
          <a:xfrm flipH="1">
            <a:off x="3198800" y="3702538"/>
            <a:ext cx="27462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rPr>
              <a:t>Testing</a:t>
            </a:r>
            <a:endParaRPr sz="2000" b="1" dirty="0">
              <a:solidFill>
                <a:schemeClr val="dk1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  <p:sp>
        <p:nvSpPr>
          <p:cNvPr id="548" name="Google Shape;548;p50"/>
          <p:cNvSpPr txBox="1"/>
          <p:nvPr/>
        </p:nvSpPr>
        <p:spPr>
          <a:xfrm flipH="1">
            <a:off x="6336000" y="2949038"/>
            <a:ext cx="20880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ym typeface="Overpass"/>
              </a:rPr>
              <a:t>Implement proposed solution</a:t>
            </a:r>
            <a:endParaRPr dirty="0">
              <a:sym typeface="Overpass"/>
            </a:endParaRPr>
          </a:p>
        </p:txBody>
      </p:sp>
      <p:sp>
        <p:nvSpPr>
          <p:cNvPr id="549" name="Google Shape;549;p50"/>
          <p:cNvSpPr txBox="1"/>
          <p:nvPr/>
        </p:nvSpPr>
        <p:spPr>
          <a:xfrm flipH="1">
            <a:off x="3198800" y="3032363"/>
            <a:ext cx="27462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rPr>
              <a:t>Implementation	</a:t>
            </a:r>
            <a:endParaRPr sz="2000" b="1" dirty="0">
              <a:solidFill>
                <a:schemeClr val="dk1"/>
              </a:solidFill>
              <a:latin typeface="GFS Didot"/>
              <a:ea typeface="GFS Didot"/>
              <a:cs typeface="GFS Didot"/>
              <a:sym typeface="GFS Didot"/>
            </a:endParaRPr>
          </a:p>
        </p:txBody>
      </p:sp>
      <p:cxnSp>
        <p:nvCxnSpPr>
          <p:cNvPr id="550" name="Google Shape;550;p50"/>
          <p:cNvCxnSpPr>
            <a:cxnSpLocks/>
            <a:stCxn id="543" idx="1"/>
            <a:endCxn id="545" idx="3"/>
          </p:cNvCxnSpPr>
          <p:nvPr/>
        </p:nvCxnSpPr>
        <p:spPr>
          <a:xfrm flipV="1">
            <a:off x="2962275" y="1914163"/>
            <a:ext cx="236525" cy="99866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50"/>
          <p:cNvCxnSpPr>
            <a:cxnSpLocks/>
            <a:stCxn id="543" idx="1"/>
            <a:endCxn id="542" idx="3"/>
          </p:cNvCxnSpPr>
          <p:nvPr/>
        </p:nvCxnSpPr>
        <p:spPr>
          <a:xfrm flipV="1">
            <a:off x="2962275" y="2584338"/>
            <a:ext cx="236525" cy="32848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50"/>
          <p:cNvCxnSpPr>
            <a:cxnSpLocks/>
            <a:stCxn id="543" idx="1"/>
            <a:endCxn id="547" idx="3"/>
          </p:cNvCxnSpPr>
          <p:nvPr/>
        </p:nvCxnSpPr>
        <p:spPr>
          <a:xfrm>
            <a:off x="2962275" y="2912825"/>
            <a:ext cx="236525" cy="10118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50"/>
          <p:cNvCxnSpPr>
            <a:cxnSpLocks/>
            <a:stCxn id="543" idx="1"/>
            <a:endCxn id="549" idx="3"/>
          </p:cNvCxnSpPr>
          <p:nvPr/>
        </p:nvCxnSpPr>
        <p:spPr>
          <a:xfrm>
            <a:off x="2962275" y="2912825"/>
            <a:ext cx="236525" cy="34168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50"/>
          <p:cNvCxnSpPr>
            <a:cxnSpLocks/>
            <a:stCxn id="545" idx="1"/>
            <a:endCxn id="544" idx="3"/>
          </p:cNvCxnSpPr>
          <p:nvPr/>
        </p:nvCxnSpPr>
        <p:spPr>
          <a:xfrm>
            <a:off x="5945000" y="1914163"/>
            <a:ext cx="39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50"/>
          <p:cNvCxnSpPr>
            <a:cxnSpLocks/>
            <a:stCxn id="542" idx="1"/>
          </p:cNvCxnSpPr>
          <p:nvPr/>
        </p:nvCxnSpPr>
        <p:spPr>
          <a:xfrm flipV="1">
            <a:off x="5945000" y="2572141"/>
            <a:ext cx="391000" cy="121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50"/>
          <p:cNvCxnSpPr>
            <a:stCxn id="549" idx="1"/>
            <a:endCxn id="548" idx="3"/>
          </p:cNvCxnSpPr>
          <p:nvPr/>
        </p:nvCxnSpPr>
        <p:spPr>
          <a:xfrm>
            <a:off x="5945000" y="3254513"/>
            <a:ext cx="39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50"/>
          <p:cNvCxnSpPr>
            <a:stCxn id="547" idx="1"/>
            <a:endCxn id="546" idx="3"/>
          </p:cNvCxnSpPr>
          <p:nvPr/>
        </p:nvCxnSpPr>
        <p:spPr>
          <a:xfrm>
            <a:off x="5945000" y="3924688"/>
            <a:ext cx="39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544;p50">
            <a:extLst>
              <a:ext uri="{FF2B5EF4-FFF2-40B4-BE49-F238E27FC236}">
                <a16:creationId xmlns:a16="http://schemas.microsoft.com/office/drawing/2014/main" id="{C943F600-E47E-A645-807C-B805CC38FAFC}"/>
              </a:ext>
            </a:extLst>
          </p:cNvPr>
          <p:cNvSpPr txBox="1"/>
          <p:nvPr/>
        </p:nvSpPr>
        <p:spPr>
          <a:xfrm flipH="1">
            <a:off x="6335900" y="2278714"/>
            <a:ext cx="20880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Design proposed XDR system improving on identified flaws</a:t>
            </a:r>
            <a:endParaRPr lang="en-US" sz="1200" dirty="0"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AEF3BD23-CCC9-C51F-2287-2CE5075F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>
            <a:extLst>
              <a:ext uri="{FF2B5EF4-FFF2-40B4-BE49-F238E27FC236}">
                <a16:creationId xmlns:a16="http://schemas.microsoft.com/office/drawing/2014/main" id="{23F12193-4F34-2918-196D-1DA631A2B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350599"/>
            <a:ext cx="77040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dirty="0"/>
              <a:t>Architecture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5D39A412-8E7C-9602-C71B-768DC7B09821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Methodology &amp; Architecture *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F5E1E7-3E94-383A-4AD5-468E0FF6F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039" y="1585049"/>
            <a:ext cx="5144392" cy="3101971"/>
          </a:xfrm>
          <a:prstGeom prst="rect">
            <a:avLst/>
          </a:prstGeom>
        </p:spPr>
      </p:pic>
      <p:sp>
        <p:nvSpPr>
          <p:cNvPr id="4" name="Google Shape;345;p36">
            <a:extLst>
              <a:ext uri="{FF2B5EF4-FFF2-40B4-BE49-F238E27FC236}">
                <a16:creationId xmlns:a16="http://schemas.microsoft.com/office/drawing/2014/main" id="{85CFFF5F-63A9-AD3D-5077-2E741DD4658D}"/>
              </a:ext>
            </a:extLst>
          </p:cNvPr>
          <p:cNvSpPr txBox="1">
            <a:spLocks/>
          </p:cNvSpPr>
          <p:nvPr/>
        </p:nvSpPr>
        <p:spPr>
          <a:xfrm>
            <a:off x="720000" y="2105696"/>
            <a:ext cx="2654265" cy="232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FS Didot"/>
              <a:buNone/>
              <a:defRPr sz="2000" b="1" i="0" u="none" strike="noStrike" cap="none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ioRhyme"/>
              <a:buNone/>
              <a:defRPr sz="24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9pPr>
          </a:lstStyle>
          <a:p>
            <a:pPr>
              <a:buSzPts val="1100"/>
            </a:pPr>
            <a:r>
              <a:rPr lang="en-US" dirty="0">
                <a:solidFill>
                  <a:schemeClr val="tx1"/>
                </a:solidFill>
              </a:rPr>
              <a:t>Technologies used are chosen based on the needs of this solution as well as the compatibility and ease of integration between them</a:t>
            </a:r>
          </a:p>
        </p:txBody>
      </p:sp>
      <p:sp>
        <p:nvSpPr>
          <p:cNvPr id="5" name="Google Shape;351;p36">
            <a:extLst>
              <a:ext uri="{FF2B5EF4-FFF2-40B4-BE49-F238E27FC236}">
                <a16:creationId xmlns:a16="http://schemas.microsoft.com/office/drawing/2014/main" id="{3A177939-7764-92F9-07EB-1F9A6131F3D8}"/>
              </a:ext>
            </a:extLst>
          </p:cNvPr>
          <p:cNvSpPr txBox="1">
            <a:spLocks/>
          </p:cNvSpPr>
          <p:nvPr/>
        </p:nvSpPr>
        <p:spPr>
          <a:xfrm>
            <a:off x="7074144" y="4809785"/>
            <a:ext cx="2011901" cy="28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FS Didot"/>
              <a:buNone/>
              <a:defRPr sz="3000" b="1" i="0" u="none" strike="noStrike" cap="none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oRhyme"/>
              <a:buNone/>
              <a:defRPr sz="3000" b="1" i="0" u="none" strike="noStrike" cap="none">
                <a:solidFill>
                  <a:schemeClr val="dk1"/>
                </a:solidFill>
                <a:latin typeface="BioRhyme"/>
                <a:ea typeface="BioRhyme"/>
                <a:cs typeface="BioRhyme"/>
                <a:sym typeface="BioRhyme"/>
              </a:defRPr>
            </a:lvl9pPr>
          </a:lstStyle>
          <a:p>
            <a:pPr algn="r"/>
            <a:r>
              <a:rPr lang="en-US" sz="900" dirty="0"/>
              <a:t>(Included in thesis)</a:t>
            </a:r>
          </a:p>
        </p:txBody>
      </p:sp>
    </p:spTree>
    <p:extLst>
      <p:ext uri="{BB962C8B-B14F-4D97-AF65-F5344CB8AC3E}">
        <p14:creationId xmlns:p14="http://schemas.microsoft.com/office/powerpoint/2010/main" val="3788194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08944377-6845-7B20-5AB8-3B2FC8A2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>
            <a:extLst>
              <a:ext uri="{FF2B5EF4-FFF2-40B4-BE49-F238E27FC236}">
                <a16:creationId xmlns:a16="http://schemas.microsoft.com/office/drawing/2014/main" id="{7D3F16D9-5502-7315-3FD7-ABB1A7EEE5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459" y="1320085"/>
            <a:ext cx="7704000" cy="23568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dirty="0"/>
              <a:t> - Unified Solution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- Great focus to the machines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- System is fully accessible via web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- Everything is recorded in a database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5753F633-5337-6215-27AA-DE0C480E616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Experimental Work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59519-A879-EB05-66E3-1174AFF08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624" y="1174500"/>
            <a:ext cx="3722561" cy="2000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AFEDF0-58EF-3882-8336-B8C25876880F}"/>
              </a:ext>
            </a:extLst>
          </p:cNvPr>
          <p:cNvSpPr txBox="1"/>
          <p:nvPr/>
        </p:nvSpPr>
        <p:spPr>
          <a:xfrm>
            <a:off x="4272566" y="4788380"/>
            <a:ext cx="4871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(Included in thesis)</a:t>
            </a:r>
          </a:p>
        </p:txBody>
      </p:sp>
    </p:spTree>
    <p:extLst>
      <p:ext uri="{BB962C8B-B14F-4D97-AF65-F5344CB8AC3E}">
        <p14:creationId xmlns:p14="http://schemas.microsoft.com/office/powerpoint/2010/main" val="328477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F12646F6-6232-8BAA-710A-287B69F0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>
            <a:extLst>
              <a:ext uri="{FF2B5EF4-FFF2-40B4-BE49-F238E27FC236}">
                <a16:creationId xmlns:a16="http://schemas.microsoft.com/office/drawing/2014/main" id="{70CEAEB7-F1BC-BD83-1C17-20AA6F9A23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/>
              <a:t>5. Results &amp; Hypotheses</a:t>
            </a:r>
            <a:endParaRPr dirty="0"/>
          </a:p>
        </p:txBody>
      </p:sp>
      <p:graphicFrame>
        <p:nvGraphicFramePr>
          <p:cNvPr id="307" name="Google Shape;307;p33">
            <a:extLst>
              <a:ext uri="{FF2B5EF4-FFF2-40B4-BE49-F238E27FC236}">
                <a16:creationId xmlns:a16="http://schemas.microsoft.com/office/drawing/2014/main" id="{EBAA945A-A3DA-FAF0-8F44-042C9E1C94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6171002"/>
              </p:ext>
            </p:extLst>
          </p:nvPr>
        </p:nvGraphicFramePr>
        <p:xfrm>
          <a:off x="721425" y="1806028"/>
          <a:ext cx="7702575" cy="2101857"/>
        </p:xfrm>
        <a:graphic>
          <a:graphicData uri="http://schemas.openxmlformats.org/drawingml/2006/table">
            <a:tbl>
              <a:tblPr>
                <a:noFill/>
                <a:tableStyleId>{34773EF1-DEA2-4C94-AE98-79BA4ACDCEAD}</a:tableStyleId>
              </a:tblPr>
              <a:tblGrid>
                <a:gridCol w="5397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Hypothesis</a:t>
                      </a:r>
                      <a:endParaRPr sz="1000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302318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Results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H1 - </a:t>
                      </a:r>
                      <a:r>
                        <a:rPr lang="en-US" sz="1000"/>
                        <a:t>An Artificial Intelligence-driven XDR system can identify suspicious logs and security events through telemetry collection, continuous monitoring and automated AI-driven analysis with a good accuracy level</a:t>
                      </a:r>
                      <a:endParaRPr lang="en" sz="1000" b="1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30231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Supported in this simulated solution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H2 - </a:t>
                      </a:r>
                      <a:r>
                        <a:rPr lang="en-US" sz="1000" dirty="0"/>
                        <a:t>The integration of Machine Learning algorithms greatly improves the effectiveness of an XDR solution compared to current systems that mostly use rule-based mechanisms</a:t>
                      </a:r>
                      <a:endParaRPr sz="1000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Supported in this simulated solution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GFS Didot"/>
                          <a:ea typeface="GFS Didot"/>
                          <a:cs typeface="GFS Didot"/>
                          <a:sym typeface="GFS Didot"/>
                        </a:rPr>
                        <a:t>H3 - </a:t>
                      </a:r>
                      <a:r>
                        <a:rPr lang="en-US" sz="1000" dirty="0"/>
                        <a:t>Event correlation and Intrusion Detection (ID) can identify threats that launch large scaled attacks throughout the whole network, affecting all devices. </a:t>
                      </a:r>
                      <a:endParaRPr lang="en-US" sz="1000" dirty="0">
                        <a:solidFill>
                          <a:schemeClr val="dk1"/>
                        </a:solidFill>
                        <a:latin typeface="GFS Didot"/>
                        <a:ea typeface="GFS Didot"/>
                        <a:cs typeface="GFS Didot"/>
                        <a:sym typeface="GFS Dido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Not fully supported</a:t>
                      </a:r>
                      <a:endParaRPr sz="1000" dirty="0">
                        <a:solidFill>
                          <a:schemeClr val="dk1"/>
                        </a:solidFill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5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7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6 - Final Conclusions &amp; Contributions</a:t>
            </a:r>
            <a:endParaRPr dirty="0"/>
          </a:p>
        </p:txBody>
      </p:sp>
      <p:sp>
        <p:nvSpPr>
          <p:cNvPr id="735" name="Google Shape;735;p57"/>
          <p:cNvSpPr txBox="1">
            <a:spLocks noGrp="1"/>
          </p:cNvSpPr>
          <p:nvPr>
            <p:ph type="subTitle" idx="1"/>
          </p:nvPr>
        </p:nvSpPr>
        <p:spPr>
          <a:xfrm>
            <a:off x="977662" y="1516029"/>
            <a:ext cx="26997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 Designed a complete AI-driven XDR solution</a:t>
            </a:r>
            <a:endParaRPr dirty="0"/>
          </a:p>
        </p:txBody>
      </p:sp>
      <p:sp>
        <p:nvSpPr>
          <p:cNvPr id="737" name="Google Shape;737;p57"/>
          <p:cNvSpPr txBox="1">
            <a:spLocks noGrp="1"/>
          </p:cNvSpPr>
          <p:nvPr>
            <p:ph type="subTitle" idx="3"/>
          </p:nvPr>
        </p:nvSpPr>
        <p:spPr>
          <a:xfrm>
            <a:off x="5215494" y="1516029"/>
            <a:ext cx="26997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Integrated specific components such as </a:t>
            </a:r>
            <a:r>
              <a:rPr lang="en-US" dirty="0" err="1"/>
              <a:t>Wazuh</a:t>
            </a:r>
            <a:r>
              <a:rPr lang="en-US" dirty="0"/>
              <a:t> &amp; Sysmon and ML in a single solution</a:t>
            </a:r>
            <a:endParaRPr dirty="0"/>
          </a:p>
        </p:txBody>
      </p:sp>
      <p:sp>
        <p:nvSpPr>
          <p:cNvPr id="739" name="Google Shape;739;p57"/>
          <p:cNvSpPr txBox="1">
            <a:spLocks noGrp="1"/>
          </p:cNvSpPr>
          <p:nvPr>
            <p:ph type="subTitle" idx="5"/>
          </p:nvPr>
        </p:nvSpPr>
        <p:spPr>
          <a:xfrm>
            <a:off x="1228800" y="3240849"/>
            <a:ext cx="2699700" cy="1073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3. Combined unsupervised and supervised learning methods to capture a better detection result</a:t>
            </a:r>
            <a:endParaRPr dirty="0"/>
          </a:p>
        </p:txBody>
      </p:sp>
      <p:sp>
        <p:nvSpPr>
          <p:cNvPr id="741" name="Google Shape;741;p57"/>
          <p:cNvSpPr txBox="1">
            <a:spLocks noGrp="1"/>
          </p:cNvSpPr>
          <p:nvPr>
            <p:ph type="subTitle" idx="7"/>
          </p:nvPr>
        </p:nvSpPr>
        <p:spPr>
          <a:xfrm>
            <a:off x="5215525" y="3240850"/>
            <a:ext cx="26997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System is fully accessible via a web interface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ECEECEDF-FD14-7758-811E-9AD1644F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FD1F4E5F-5467-F5BF-D0B3-106FD067A65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7. Final Implementation (Photos) [1]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247BA-7257-B3DE-EC83-545AF2292641}"/>
              </a:ext>
            </a:extLst>
          </p:cNvPr>
          <p:cNvSpPr txBox="1"/>
          <p:nvPr/>
        </p:nvSpPr>
        <p:spPr>
          <a:xfrm>
            <a:off x="3678383" y="4788380"/>
            <a:ext cx="5465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(All snapshots are recorded and further explained in the document)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B785B-51AE-93C9-F470-199AE040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966" y="1419157"/>
            <a:ext cx="6530067" cy="31245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DCECF6-B02B-8244-E8DF-4BCC1860DD78}"/>
              </a:ext>
            </a:extLst>
          </p:cNvPr>
          <p:cNvSpPr/>
          <p:nvPr/>
        </p:nvSpPr>
        <p:spPr>
          <a:xfrm>
            <a:off x="2008909" y="1960418"/>
            <a:ext cx="2895600" cy="611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457FF1-7723-73B7-A1D2-9C6E263B524F}"/>
              </a:ext>
            </a:extLst>
          </p:cNvPr>
          <p:cNvCxnSpPr/>
          <p:nvPr/>
        </p:nvCxnSpPr>
        <p:spPr>
          <a:xfrm flipH="1" flipV="1">
            <a:off x="720000" y="1655618"/>
            <a:ext cx="1288909" cy="7342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1E52C5-28BD-86BE-3CEC-DDD4E492CBAF}"/>
              </a:ext>
            </a:extLst>
          </p:cNvPr>
          <p:cNvSpPr txBox="1"/>
          <p:nvPr/>
        </p:nvSpPr>
        <p:spPr>
          <a:xfrm>
            <a:off x="103909" y="1419157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Alert Stats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290DD-263C-43C0-3296-7430D432B7C7}"/>
              </a:ext>
            </a:extLst>
          </p:cNvPr>
          <p:cNvSpPr/>
          <p:nvPr/>
        </p:nvSpPr>
        <p:spPr>
          <a:xfrm>
            <a:off x="2008909" y="2634566"/>
            <a:ext cx="2895600" cy="16606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34EF71-03C7-C4F1-2680-C499075D8AFE}"/>
              </a:ext>
            </a:extLst>
          </p:cNvPr>
          <p:cNvCxnSpPr>
            <a:cxnSpLocks/>
          </p:cNvCxnSpPr>
          <p:nvPr/>
        </p:nvCxnSpPr>
        <p:spPr>
          <a:xfrm flipH="1">
            <a:off x="1115724" y="3238172"/>
            <a:ext cx="893184" cy="22671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41401B-5D8B-1CBD-D9AB-C7B966CA146D}"/>
              </a:ext>
            </a:extLst>
          </p:cNvPr>
          <p:cNvSpPr txBox="1"/>
          <p:nvPr/>
        </p:nvSpPr>
        <p:spPr>
          <a:xfrm>
            <a:off x="20563" y="3136085"/>
            <a:ext cx="13438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Recently recorded threats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385D9-687F-83C2-067F-2ABD06FDC1E0}"/>
              </a:ext>
            </a:extLst>
          </p:cNvPr>
          <p:cNvSpPr/>
          <p:nvPr/>
        </p:nvSpPr>
        <p:spPr>
          <a:xfrm>
            <a:off x="4966855" y="2634566"/>
            <a:ext cx="2757054" cy="611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FBA5BD-0080-53F3-F35C-290CDAECB898}"/>
              </a:ext>
            </a:extLst>
          </p:cNvPr>
          <p:cNvCxnSpPr>
            <a:cxnSpLocks/>
          </p:cNvCxnSpPr>
          <p:nvPr/>
        </p:nvCxnSpPr>
        <p:spPr>
          <a:xfrm flipV="1">
            <a:off x="7723909" y="2571750"/>
            <a:ext cx="700090" cy="29633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8D93E27-7F8A-52B8-7BED-1F6FE3D47BE4}"/>
              </a:ext>
            </a:extLst>
          </p:cNvPr>
          <p:cNvSpPr txBox="1"/>
          <p:nvPr/>
        </p:nvSpPr>
        <p:spPr>
          <a:xfrm>
            <a:off x="8100903" y="2174465"/>
            <a:ext cx="1145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Simulated Responses</a:t>
            </a:r>
          </a:p>
        </p:txBody>
      </p:sp>
    </p:spTree>
    <p:extLst>
      <p:ext uri="{BB962C8B-B14F-4D97-AF65-F5344CB8AC3E}">
        <p14:creationId xmlns:p14="http://schemas.microsoft.com/office/powerpoint/2010/main" val="295904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64917851-6ECA-F6C5-B242-9468ED08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865653BF-6CE0-2ACE-DEBC-6B44EAF35854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7. Final Implementation [2]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AF5F40-1835-7642-0A8E-45149DDCE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48" y="1351543"/>
            <a:ext cx="6587835" cy="31274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1B65FC-2B62-2BE8-7D85-00616CBB91CF}"/>
              </a:ext>
            </a:extLst>
          </p:cNvPr>
          <p:cNvSpPr/>
          <p:nvPr/>
        </p:nvSpPr>
        <p:spPr>
          <a:xfrm>
            <a:off x="1704109" y="1600200"/>
            <a:ext cx="5832764" cy="16902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CED205-A578-DAA6-A986-8A90919DD06D}"/>
              </a:ext>
            </a:extLst>
          </p:cNvPr>
          <p:cNvCxnSpPr/>
          <p:nvPr/>
        </p:nvCxnSpPr>
        <p:spPr>
          <a:xfrm>
            <a:off x="7566483" y="1981200"/>
            <a:ext cx="711608" cy="5905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E1C5E9-7E9A-713F-985F-5631F924ED9A}"/>
              </a:ext>
            </a:extLst>
          </p:cNvPr>
          <p:cNvSpPr txBox="1"/>
          <p:nvPr/>
        </p:nvSpPr>
        <p:spPr>
          <a:xfrm>
            <a:off x="7987630" y="2571750"/>
            <a:ext cx="1156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Correlation engine findings</a:t>
            </a:r>
          </a:p>
        </p:txBody>
      </p:sp>
    </p:spTree>
    <p:extLst>
      <p:ext uri="{BB962C8B-B14F-4D97-AF65-F5344CB8AC3E}">
        <p14:creationId xmlns:p14="http://schemas.microsoft.com/office/powerpoint/2010/main" val="4273979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C2A681A2-B628-8101-08A9-DF58FDF94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7405EB78-CB36-E957-8E32-162832F2B098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7. Final Implementation [3]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2129F-3262-E567-7562-76057250E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6" y="1174500"/>
            <a:ext cx="7301023" cy="34659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0DA69F-FA83-1594-51B0-A24F707C9DC5}"/>
              </a:ext>
            </a:extLst>
          </p:cNvPr>
          <p:cNvSpPr/>
          <p:nvPr/>
        </p:nvSpPr>
        <p:spPr>
          <a:xfrm>
            <a:off x="7152167" y="4124945"/>
            <a:ext cx="205563" cy="2060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437B6F-CB40-6C59-8EA2-CE2F47E12791}"/>
              </a:ext>
            </a:extLst>
          </p:cNvPr>
          <p:cNvCxnSpPr>
            <a:cxnSpLocks/>
          </p:cNvCxnSpPr>
          <p:nvPr/>
        </p:nvCxnSpPr>
        <p:spPr>
          <a:xfrm flipV="1">
            <a:off x="7357730" y="3655295"/>
            <a:ext cx="741265" cy="4649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8C8BFB-EC88-95D0-A7CC-1CED9ECCD6BE}"/>
              </a:ext>
            </a:extLst>
          </p:cNvPr>
          <p:cNvSpPr txBox="1"/>
          <p:nvPr/>
        </p:nvSpPr>
        <p:spPr>
          <a:xfrm>
            <a:off x="8060009" y="3364694"/>
            <a:ext cx="117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Export button for further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358699-5A7E-4CCD-6A08-1097C906ADD0}"/>
              </a:ext>
            </a:extLst>
          </p:cNvPr>
          <p:cNvSpPr/>
          <p:nvPr/>
        </p:nvSpPr>
        <p:spPr>
          <a:xfrm>
            <a:off x="1565564" y="2036618"/>
            <a:ext cx="6494445" cy="24245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35C7C3-213C-FE50-A9D4-C374CFEA9F8A}"/>
              </a:ext>
            </a:extLst>
          </p:cNvPr>
          <p:cNvCxnSpPr>
            <a:cxnSpLocks/>
          </p:cNvCxnSpPr>
          <p:nvPr/>
        </p:nvCxnSpPr>
        <p:spPr>
          <a:xfrm>
            <a:off x="3061854" y="4461164"/>
            <a:ext cx="1274619" cy="36021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E140A3-66FD-1583-42E1-92FFE4EB425F}"/>
              </a:ext>
            </a:extLst>
          </p:cNvPr>
          <p:cNvSpPr txBox="1"/>
          <p:nvPr/>
        </p:nvSpPr>
        <p:spPr>
          <a:xfrm>
            <a:off x="4341732" y="4698271"/>
            <a:ext cx="35798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Overview of all generated logs divided by origin and severity</a:t>
            </a:r>
          </a:p>
        </p:txBody>
      </p:sp>
    </p:spTree>
    <p:extLst>
      <p:ext uri="{BB962C8B-B14F-4D97-AF65-F5344CB8AC3E}">
        <p14:creationId xmlns:p14="http://schemas.microsoft.com/office/powerpoint/2010/main" val="3253357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38BC5B9C-E158-E45A-CF09-409A0FC80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>
            <a:extLst>
              <a:ext uri="{FF2B5EF4-FFF2-40B4-BE49-F238E27FC236}">
                <a16:creationId xmlns:a16="http://schemas.microsoft.com/office/drawing/2014/main" id="{377D94F4-AA02-C419-72C3-2BF6CBE35128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7. Final Implementation [4]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CC25F6-A496-77A8-3294-E76E6582C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31" y="1352753"/>
            <a:ext cx="6830291" cy="32282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5B34A8-247F-0ACB-E0FC-8F6C4539C137}"/>
              </a:ext>
            </a:extLst>
          </p:cNvPr>
          <p:cNvSpPr/>
          <p:nvPr/>
        </p:nvSpPr>
        <p:spPr>
          <a:xfrm>
            <a:off x="1544782" y="1848293"/>
            <a:ext cx="6054436" cy="1780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E190B5-60C9-418A-5DF0-4347F9997ADC}"/>
              </a:ext>
            </a:extLst>
          </p:cNvPr>
          <p:cNvCxnSpPr/>
          <p:nvPr/>
        </p:nvCxnSpPr>
        <p:spPr>
          <a:xfrm>
            <a:off x="7588770" y="2024937"/>
            <a:ext cx="471491" cy="7135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6C3A3D-4039-A0FB-E9AB-C2036A654CDB}"/>
              </a:ext>
            </a:extLst>
          </p:cNvPr>
          <p:cNvSpPr txBox="1"/>
          <p:nvPr/>
        </p:nvSpPr>
        <p:spPr>
          <a:xfrm>
            <a:off x="7779327" y="2782578"/>
            <a:ext cx="1191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Monitoring system for all running agents and services related to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1229895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0"/>
          <p:cNvSpPr/>
          <p:nvPr/>
        </p:nvSpPr>
        <p:spPr>
          <a:xfrm>
            <a:off x="8036850" y="-319700"/>
            <a:ext cx="1180200" cy="11802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60"/>
          <p:cNvSpPr/>
          <p:nvPr/>
        </p:nvSpPr>
        <p:spPr>
          <a:xfrm>
            <a:off x="7180271" y="3943625"/>
            <a:ext cx="3123300" cy="1470000"/>
          </a:xfrm>
          <a:prstGeom prst="roundRect">
            <a:avLst>
              <a:gd name="adj" fmla="val 22141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60"/>
          <p:cNvSpPr txBox="1">
            <a:spLocks noGrp="1"/>
          </p:cNvSpPr>
          <p:nvPr>
            <p:ph type="subTitle" idx="2"/>
          </p:nvPr>
        </p:nvSpPr>
        <p:spPr>
          <a:xfrm rot="-1283">
            <a:off x="2963700" y="4184197"/>
            <a:ext cx="32166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keep this slide as attribution</a:t>
            </a:r>
            <a:endParaRPr/>
          </a:p>
        </p:txBody>
      </p:sp>
      <p:sp>
        <p:nvSpPr>
          <p:cNvPr id="774" name="Google Shape;774;p60"/>
          <p:cNvSpPr/>
          <p:nvPr/>
        </p:nvSpPr>
        <p:spPr>
          <a:xfrm>
            <a:off x="-705425" y="1630050"/>
            <a:ext cx="2372100" cy="2372100"/>
          </a:xfrm>
          <a:prstGeom prst="roundRect">
            <a:avLst>
              <a:gd name="adj" fmla="val 5393"/>
            </a:avLst>
          </a:prstGeom>
          <a:solidFill>
            <a:schemeClr val="dk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60"/>
          <p:cNvSpPr/>
          <p:nvPr/>
        </p:nvSpPr>
        <p:spPr>
          <a:xfrm>
            <a:off x="285950" y="325050"/>
            <a:ext cx="1180200" cy="11802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60"/>
          <p:cNvSpPr/>
          <p:nvPr/>
        </p:nvSpPr>
        <p:spPr>
          <a:xfrm>
            <a:off x="986150" y="4259250"/>
            <a:ext cx="480000" cy="4800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60"/>
          <p:cNvSpPr/>
          <p:nvPr/>
        </p:nvSpPr>
        <p:spPr>
          <a:xfrm>
            <a:off x="8036850" y="2385125"/>
            <a:ext cx="2214300" cy="2214300"/>
          </a:xfrm>
          <a:prstGeom prst="roundRect">
            <a:avLst>
              <a:gd name="adj" fmla="val 5393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85775" dist="2000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A5713-3F01-AFDC-F586-BA1045D41127}"/>
              </a:ext>
            </a:extLst>
          </p:cNvPr>
          <p:cNvSpPr/>
          <p:nvPr/>
        </p:nvSpPr>
        <p:spPr>
          <a:xfrm>
            <a:off x="2523254" y="0"/>
            <a:ext cx="3966786" cy="514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1" name="Google Shape;771;p60"/>
          <p:cNvSpPr txBox="1">
            <a:spLocks noGrp="1"/>
          </p:cNvSpPr>
          <p:nvPr>
            <p:ph type="ctrTitle"/>
          </p:nvPr>
        </p:nvSpPr>
        <p:spPr>
          <a:xfrm>
            <a:off x="1739250" y="1144352"/>
            <a:ext cx="5665500" cy="13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Thanks!</a:t>
            </a:r>
            <a:r>
              <a:rPr lang="en" sz="6600" dirty="0">
                <a:solidFill>
                  <a:schemeClr val="lt1"/>
                </a:solidFill>
              </a:rPr>
              <a:t>!</a:t>
            </a:r>
            <a:endParaRPr sz="6600" dirty="0">
              <a:solidFill>
                <a:schemeClr val="lt1"/>
              </a:solidFill>
            </a:endParaRPr>
          </a:p>
        </p:txBody>
      </p:sp>
      <p:sp>
        <p:nvSpPr>
          <p:cNvPr id="772" name="Google Shape;772;p60"/>
          <p:cNvSpPr txBox="1">
            <a:spLocks noGrp="1"/>
          </p:cNvSpPr>
          <p:nvPr>
            <p:ph type="subTitle" idx="1"/>
          </p:nvPr>
        </p:nvSpPr>
        <p:spPr>
          <a:xfrm>
            <a:off x="2963779" y="2571750"/>
            <a:ext cx="32166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cartes' Method of Doubt Thesis Defense by Slidesgo">
  <a:themeElements>
    <a:clrScheme name="Simple Light">
      <a:dk1>
        <a:srgbClr val="2E2E2E"/>
      </a:dk1>
      <a:lt1>
        <a:srgbClr val="EDE9E9"/>
      </a:lt1>
      <a:dk2>
        <a:srgbClr val="EFEFEF"/>
      </a:dk2>
      <a:lt2>
        <a:srgbClr val="DFDFDF"/>
      </a:lt2>
      <a:accent1>
        <a:srgbClr val="E8E8E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698</Words>
  <Application>Microsoft Office PowerPoint</Application>
  <PresentationFormat>On-screen Show (16:9)</PresentationFormat>
  <Paragraphs>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GFS Didot</vt:lpstr>
      <vt:lpstr>Wingdings</vt:lpstr>
      <vt:lpstr>Overpass</vt:lpstr>
      <vt:lpstr>Descartes' Method of Doubt Thesis Defense by Slidesgo</vt:lpstr>
      <vt:lpstr>Design and Simulation of an AI-Driven Extended Detection and Response (XDR) System</vt:lpstr>
      <vt:lpstr>Presentation Contents</vt:lpstr>
      <vt:lpstr>Problems found in existing advancements &amp; research:</vt:lpstr>
      <vt:lpstr>Posed Research Questions</vt:lpstr>
      <vt:lpstr>Existing cybersecurity systems (SIEM, EDR, SOAR) have specialized functionalities, but innovation is scarce and will prove to be a major issue with the evolvement of AI</vt:lpstr>
      <vt:lpstr>PowerPoint Presentation</vt:lpstr>
      <vt:lpstr>3. Methodology &amp; Architecture</vt:lpstr>
      <vt:lpstr>Architecture</vt:lpstr>
      <vt:lpstr>4. Experimental Work</vt:lpstr>
      <vt:lpstr>5. Results &amp; Hypotheses</vt:lpstr>
      <vt:lpstr>6 - Final Conclusions &amp; Contributions</vt:lpstr>
      <vt:lpstr>7. Final Implementation (Photos) [1]</vt:lpstr>
      <vt:lpstr>7. Final Implementation [2]</vt:lpstr>
      <vt:lpstr>7. Final Implementation [3]</vt:lpstr>
      <vt:lpstr>7. Final Implementation [4]</vt:lpstr>
      <vt:lpstr>Thanks!!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Darling Selita</dc:creator>
  <cp:lastModifiedBy>Darling Selita</cp:lastModifiedBy>
  <cp:revision>3</cp:revision>
  <dcterms:modified xsi:type="dcterms:W3CDTF">2026-06-29T20:53:00Z</dcterms:modified>
</cp:coreProperties>
</file>